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3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03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572000" cy="4572000"/>
          </a:xfrm>
          <a:prstGeom prst="ellipse">
            <a:avLst/>
          </a:prstGeom>
          <a:solidFill>
            <a:srgbClr val="0A4560">
              <a:alpha val="70000"/>
            </a:srgbClr>
          </a:solidFill>
          <a:ln w="12700">
            <a:solidFill>
              <a:srgbClr val="0A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931920"/>
            <a:ext cx="2743200" cy="2743200"/>
          </a:xfrm>
          <a:prstGeom prst="ellipse">
            <a:avLst/>
          </a:prstGeom>
          <a:solidFill>
            <a:srgbClr val="0A4560">
              <a:alpha val="60000"/>
            </a:srgbClr>
          </a:solidFill>
          <a:ln w="12700">
            <a:solidFill>
              <a:srgbClr val="0A4560"/>
            </a:solidFill>
            <a:prstDash val="solid"/>
          </a:ln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194560" cy="36249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D84E"/>
                </a:solidFill>
              </a:rPr>
              <a:t>HackNow 2026  |  Accenture x ServiceNow  |  Problem HOT-04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Guest Complaint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62D84E"/>
                </a:solidFill>
              </a:rPr>
              <a:t>Root-Cause Intelligence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One complaint. One root cause. Fixed once.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685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4-hour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23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SLA timer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488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48840" y="3685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3-tier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4023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escalation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490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49040" y="3685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4023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 clusters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4924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49240" y="3685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7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4023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dashboard charts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D0"/>
                </a:solidFill>
              </a:rPr>
              <a:t>Team TechNova: B. Pravallika (Lead), K. Meghana, K. Rahini, M. Samatha, G. Hemanjali Bhavani, S. Dhanush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Four complaints, one hidden cause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AC not cooling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32888" y="1097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188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81528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Wi-Fi dropping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08576" y="1097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11887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57216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No hot water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84264" y="10972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11887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32904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Too noisy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Every complaint is handled alone and closed. Look at Floor 5: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2057400"/>
            <a:ext cx="1207008" cy="13258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457200" y="21214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Room 501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246888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57200" y="29077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</a:rPr>
              <a:t>AC not cooling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371600" y="1984248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752" y="2039112"/>
            <a:ext cx="109728" cy="14630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783080" y="2057400"/>
            <a:ext cx="1207008" cy="13258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16"/>
          <p:cNvSpPr txBox="1"/>
          <p:nvPr/>
        </p:nvSpPr>
        <p:spPr>
          <a:xfrm>
            <a:off x="1783080" y="21214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Room 502</a:t>
            </a:r>
            <a:endParaRPr lang="en-US" sz="13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3704" y="246888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783080" y="29077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</a:rPr>
              <a:t>AC not cooling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2697480" y="1984248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632" y="2039112"/>
            <a:ext cx="109728" cy="14630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3108960" y="2057400"/>
            <a:ext cx="1207008" cy="13258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0"/>
          <p:cNvSpPr txBox="1"/>
          <p:nvPr/>
        </p:nvSpPr>
        <p:spPr>
          <a:xfrm>
            <a:off x="3108960" y="21214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Room 503</a:t>
            </a:r>
            <a:endParaRPr lang="en-US" sz="13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584" y="2468880"/>
            <a:ext cx="365760" cy="36576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3108960" y="29077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</a:rPr>
              <a:t>AC not cooling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4023360" y="1984248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2039112"/>
            <a:ext cx="109728" cy="146304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4434840" y="2057400"/>
            <a:ext cx="1207008" cy="132588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24"/>
          <p:cNvSpPr txBox="1"/>
          <p:nvPr/>
        </p:nvSpPr>
        <p:spPr>
          <a:xfrm>
            <a:off x="4434840" y="21214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42"/>
                </a:solidFill>
              </a:rPr>
              <a:t>Room 505</a:t>
            </a:r>
            <a:endParaRPr lang="en-US" sz="13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5464" y="2468880"/>
            <a:ext cx="365760" cy="36576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434840" y="29077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34F"/>
                </a:solidFill>
              </a:rPr>
              <a:t>AC not cooling</a:t>
            </a:r>
            <a:endParaRPr lang="en-US" sz="1100" dirty="0"/>
          </a:p>
        </p:txBody>
      </p:sp>
      <p:sp>
        <p:nvSpPr>
          <p:cNvPr id="39" name="Shape 26"/>
          <p:cNvSpPr/>
          <p:nvPr/>
        </p:nvSpPr>
        <p:spPr>
          <a:xfrm>
            <a:off x="5349240" y="1984248"/>
            <a:ext cx="256032" cy="25603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2392" y="2039112"/>
            <a:ext cx="109728" cy="146304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457200" y="3520440"/>
            <a:ext cx="5166360" cy="457200"/>
          </a:xfrm>
          <a:prstGeom prst="roundRect">
            <a:avLst>
              <a:gd name="adj" fmla="val 16000"/>
            </a:avLst>
          </a:prstGeom>
          <a:solidFill>
            <a:srgbClr val="FBE3E3"/>
          </a:solidFill>
          <a:ln w="15875">
            <a:solidFill>
              <a:srgbClr val="D9534F"/>
            </a:solidFill>
            <a:prstDash val="dash"/>
          </a:ln>
        </p:spPr>
      </p:sp>
      <p:sp>
        <p:nvSpPr>
          <p:cNvPr id="42" name="Text 28"/>
          <p:cNvSpPr txBox="1"/>
          <p:nvPr/>
        </p:nvSpPr>
        <p:spPr>
          <a:xfrm>
            <a:off x="457200" y="35204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34F"/>
                </a:solidFill>
              </a:rPr>
              <a:t>ONE shared cooling system on Floor 5 is failing</a:t>
            </a:r>
            <a:endParaRPr lang="en-US" sz="1500" dirty="0"/>
          </a:p>
        </p:txBody>
      </p:sp>
      <p:sp>
        <p:nvSpPr>
          <p:cNvPr id="43" name="Shape 29"/>
          <p:cNvSpPr/>
          <p:nvPr/>
        </p:nvSpPr>
        <p:spPr>
          <a:xfrm>
            <a:off x="5852160" y="2057400"/>
            <a:ext cx="2834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30"/>
          <p:cNvSpPr txBox="1"/>
          <p:nvPr/>
        </p:nvSpPr>
        <p:spPr>
          <a:xfrm>
            <a:off x="603504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5E"/>
                </a:solidFill>
              </a:rPr>
              <a:t>Today's reality</a:t>
            </a:r>
            <a:endParaRPr lang="en-US" sz="1500" dirty="0"/>
          </a:p>
        </p:txBody>
      </p:sp>
      <p:sp>
        <p:nvSpPr>
          <p:cNvPr id="45" name="Text 31"/>
          <p:cNvSpPr txBox="1"/>
          <p:nvPr/>
        </p:nvSpPr>
        <p:spPr>
          <a:xfrm>
            <a:off x="6035040" y="24231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32D42"/>
                </a:solidFill>
              </a:rPr>
              <a:t>Four tickets, four small fixes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32D42"/>
                </a:solidFill>
              </a:rPr>
              <a:t>The same repair is paid for again and again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32D42"/>
                </a:solidFill>
              </a:rPr>
              <a:t>Managers see ticket counts, not the cause</a:t>
            </a:r>
            <a:endParaRPr lang="en-US" sz="1200" dirty="0"/>
          </a:p>
        </p:txBody>
      </p:sp>
      <p:sp>
        <p:nvSpPr>
          <p:cNvPr id="46" name="Shape 32"/>
          <p:cNvSpPr/>
          <p:nvPr/>
        </p:nvSpPr>
        <p:spPr>
          <a:xfrm>
            <a:off x="457200" y="420624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47" name="Text 33"/>
          <p:cNvSpPr txBox="1"/>
          <p:nvPr/>
        </p:nvSpPr>
        <p:spPr>
          <a:xfrm>
            <a:off x="64008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Real-world parallel: a pothole reported by ten neighbours.</a:t>
            </a:r>
            <a:endParaRPr lang="en-US" sz="1300" dirty="0"/>
          </a:p>
        </p:txBody>
      </p:sp>
      <p:sp>
        <p:nvSpPr>
          <p:cNvPr id="48" name="Text 34"/>
          <p:cNvSpPr txBox="1"/>
          <p:nvPr/>
        </p:nvSpPr>
        <p:spPr>
          <a:xfrm>
            <a:off x="640080" y="44897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D84E"/>
                </a:solidFill>
              </a:rPr>
              <a:t>A good city repairs the road once. Our project gives a hotel the same 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APPROACH AND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works: one complaint,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6F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B2"/>
                </a:solidFill>
              </a:rPr>
              <a:t>Guest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37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form or chat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5544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21408" y="12801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6F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21408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B2"/>
                </a:solidFill>
              </a:rPr>
              <a:t>Case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1737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Customer Service Management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15544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85616" y="12801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F6F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85616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B2"/>
                </a:solidFill>
              </a:rPr>
              <a:t>Routing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31336" y="1737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7 assignment rules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02936" y="15544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9824" y="12801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B7A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9824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7A5E"/>
                </a:solidFill>
              </a:rPr>
              <a:t>SLA timer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95544" y="1737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4 hours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155448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14032" y="12801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Escalation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1737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3 flows: 75, 90, 100 percent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Recurrence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3 similar in 30 days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2971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121408" y="2697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9E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21408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</a:rPr>
              <a:t>AI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167128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similarity and clustering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38728" y="2971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85616" y="2697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9E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85616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</a:rPr>
              <a:t>Problem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831336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one root cause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202936" y="2971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449824" y="2697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9E5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49824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</a:rPr>
              <a:t>Corrective task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95544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permanent fix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67144" y="2971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2D84E"/>
                </a:solidFill>
              </a:rPr>
              <a:t>&gt;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114032" y="2697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32D4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14032" y="2788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D42"/>
                </a:solidFill>
              </a:rPr>
              <a:t>Dashboard + survey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159752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7 charts, guest rating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Row 1: get the complaint to the right people on time.   Row 2: find the real cause and fix it for good.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59436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5E"/>
                </a:solidFill>
              </a:rPr>
              <a:t>Built only with standard ServiceNow features. Real-world parallels: </a:t>
            </a:r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airport baggage desk (routing), hospital nurse to doctor to head (escalation), car recall (Problem and fix), flight board (dashboard)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REAL RESULT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guest 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0204" y="1069848"/>
            <a:ext cx="5617592" cy="3118104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2700">
            <a:solidFill>
              <a:srgbClr val="9DBF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9932" y="1161288"/>
            <a:ext cx="82296" cy="8229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948" y="1161288"/>
            <a:ext cx="82296" cy="822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5964" y="1161288"/>
            <a:ext cx="82296" cy="82296"/>
          </a:xfrm>
          <a:prstGeom prst="ellipse">
            <a:avLst/>
          </a:prstGeom>
          <a:solidFill>
            <a:srgbClr val="5BC47A"/>
          </a:solidFill>
          <a:ln w="12700">
            <a:solidFill>
              <a:srgbClr val="5BC47A"/>
            </a:solidFill>
            <a:prstDash val="solid"/>
          </a:ln>
        </p:spPr>
      </p:sp>
      <p:pic>
        <p:nvPicPr>
          <p:cNvPr id="8" name="Image 0" descr="The guest reports a problem screenshot from the ServiceNow in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780" y="1362456"/>
            <a:ext cx="5544440" cy="2788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guest reports a problem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Types the problem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Picks a category, room or area and equipment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Adds details and presses Submit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34340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hotel: a QR code in the room opens this form. A Virtual Agent chat does the same job.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REAL RESULT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Every complaint becomes a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0624" y="1303268"/>
            <a:ext cx="6016752" cy="265126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9DBF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94708"/>
            <a:ext cx="82296" cy="8229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94708"/>
            <a:ext cx="82296" cy="822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394708"/>
            <a:ext cx="82296" cy="82296"/>
          </a:xfrm>
          <a:prstGeom prst="ellipse">
            <a:avLst/>
          </a:prstGeom>
          <a:solidFill>
            <a:srgbClr val="5BC47A"/>
          </a:solidFill>
          <a:ln w="12700">
            <a:solidFill>
              <a:srgbClr val="5BC47A"/>
            </a:solidFill>
            <a:prstDash val="solid"/>
          </a:ln>
        </p:spPr>
      </p:sp>
      <p:pic>
        <p:nvPicPr>
          <p:cNvPr id="8" name="Image 0" descr="Cases list screenshot from the ServiceNow in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95876"/>
            <a:ext cx="5943600" cy="232207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Cases list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Each complaint is a case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Category, location and priority are filled 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Staff see everything in one place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34340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hotel: the front desk sees every complaint on one screen instead of notes and calls.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REAL RESULT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Smart routing and escalation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0624" y="1373291"/>
            <a:ext cx="6016752" cy="2511218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9DBF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64731"/>
            <a:ext cx="82296" cy="8229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4731"/>
            <a:ext cx="82296" cy="822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64731"/>
            <a:ext cx="82296" cy="82296"/>
          </a:xfrm>
          <a:prstGeom prst="ellipse">
            <a:avLst/>
          </a:prstGeom>
          <a:solidFill>
            <a:srgbClr val="5BC47A"/>
          </a:solidFill>
          <a:ln w="12700">
            <a:solidFill>
              <a:srgbClr val="5BC47A"/>
            </a:solidFill>
            <a:prstDash val="solid"/>
          </a:ln>
        </p:spPr>
      </p:sp>
      <p:pic>
        <p:nvPicPr>
          <p:cNvPr id="8" name="Image 0" descr="Assignment rules screenshot from the ServiceNow in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65899"/>
            <a:ext cx="5943600" cy="218203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Assignment rules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AC problems go to Facilities, noise to Front Desk, cleanliness to Housekeeping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A 4-hour timer starts on each case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Escalation flows act at 75, 90 and 100 percent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34340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world: an airport sends baggage problems to the baggage desk, not to ticketing.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REAL RESULT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Automatic escalation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20624" y="1347027"/>
            <a:ext cx="6016752" cy="2563745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9DBF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38467"/>
            <a:ext cx="82296" cy="8229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38467"/>
            <a:ext cx="82296" cy="822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38467"/>
            <a:ext cx="82296" cy="82296"/>
          </a:xfrm>
          <a:prstGeom prst="ellipse">
            <a:avLst/>
          </a:prstGeom>
          <a:solidFill>
            <a:srgbClr val="5BC47A"/>
          </a:solidFill>
          <a:ln w="12700">
            <a:solidFill>
              <a:srgbClr val="5BC47A"/>
            </a:solidFill>
            <a:prstDash val="solid"/>
          </a:ln>
        </p:spPr>
      </p:sp>
      <p:pic>
        <p:nvPicPr>
          <p:cNvPr id="8" name="Image 0" descr="Escalation flow (Active) screenshot from the ServiceNow in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39635"/>
            <a:ext cx="5943600" cy="22345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Escalation flow (Active)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Starts when 75 percent of the 4-hour timer is used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Raises the case priority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Two more flows act at 90 and 100 percent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34340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world: a hospital moves a patient from nurse to doctor to department head.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REAL RESULT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AI groups similar complaints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2881" y="1069848"/>
            <a:ext cx="4712238" cy="3118104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2700">
            <a:solidFill>
              <a:srgbClr val="9DBF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2609" y="1161288"/>
            <a:ext cx="82296" cy="8229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0625" y="1161288"/>
            <a:ext cx="82296" cy="822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8641" y="1161288"/>
            <a:ext cx="82296" cy="82296"/>
          </a:xfrm>
          <a:prstGeom prst="ellipse">
            <a:avLst/>
          </a:prstGeom>
          <a:solidFill>
            <a:srgbClr val="5BC47A"/>
          </a:solidFill>
          <a:ln w="12700">
            <a:solidFill>
              <a:srgbClr val="5BC47A"/>
            </a:solidFill>
            <a:prstDash val="solid"/>
          </a:ln>
        </p:spPr>
      </p:sp>
      <p:pic>
        <p:nvPicPr>
          <p:cNvPr id="8" name="Image 0" descr="Clustering screenshot from the ServiceNow in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57" y="1362456"/>
            <a:ext cx="4639086" cy="2788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Clustering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27 complaints grouped into 3 clusters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One cluster holds the cooling and AC complaints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Similarity also matches new complaints to old ones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34340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world: a streaming service groups similar films. We group similar complaints.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REAL RESULT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Management sees the root causes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71107" y="1069848"/>
            <a:ext cx="4915787" cy="3118104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2700">
            <a:solidFill>
              <a:srgbClr val="9DBF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0835" y="1161288"/>
            <a:ext cx="82296" cy="82296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8851" y="1161288"/>
            <a:ext cx="82296" cy="82296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6867" y="1161288"/>
            <a:ext cx="82296" cy="82296"/>
          </a:xfrm>
          <a:prstGeom prst="ellipse">
            <a:avLst/>
          </a:prstGeom>
          <a:solidFill>
            <a:srgbClr val="5BC47A"/>
          </a:solidFill>
          <a:ln w="12700">
            <a:solidFill>
              <a:srgbClr val="5BC47A"/>
            </a:solidFill>
            <a:prstDash val="solid"/>
          </a:ln>
        </p:spPr>
      </p:sp>
      <p:pic>
        <p:nvPicPr>
          <p:cNvPr id="8" name="Image 0" descr="Management dashboard screenshot from the ServiceNow ins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83" y="1362456"/>
            <a:ext cx="4842635" cy="2788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10972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Management dashboard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78308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40 total complaints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Equipment failure is the tallest bar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</a:rPr>
              <a:t>AC units lead the equipment chart. 7 charts in total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A4560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343400"/>
            <a:ext cx="7863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 world: a flight status board lets the manager see all delays at once.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IN OUR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the root cause is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170432"/>
            <a:ext cx="347472" cy="347472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12471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B2"/>
                </a:solidFill>
              </a:rPr>
              <a:t>Four AC complaints arrive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124712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Rooms 501, 502, 503 and 505 each raise a case. All go to the cooling team.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746504"/>
            <a:ext cx="347472" cy="34747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700784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Recurrence is flagged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1700784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3 or more complaints with the same category and location in 30 days raise the priority and add a note: Recurrence detected.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322576"/>
            <a:ext cx="347472" cy="347472"/>
          </a:xfrm>
          <a:prstGeom prst="ellipse">
            <a:avLst/>
          </a:prstGeom>
          <a:solidFill>
            <a:srgbClr val="0B7A5E"/>
          </a:solidFill>
          <a:ln w="12700">
            <a:solidFill>
              <a:srgbClr val="0B7A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276856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5E"/>
                </a:solidFill>
              </a:rPr>
              <a:t>AI groups them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276856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Similarity and clustering put the AC complaints together, even when guests used different words.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25496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2898648"/>
            <a:ext cx="347472" cy="34747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85292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</a:rPr>
              <a:t>One Problem is created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2852928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The four cases are linked to a single Problem record. This record is the root cause, confirmed by the team.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0156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474720"/>
            <a:ext cx="347472" cy="347472"/>
          </a:xfrm>
          <a:prstGeom prst="ellipse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429000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</a:rPr>
              <a:t>A corrective task is created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429000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A flow adds a task for Facilities: permanent fix for the root cause.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050792"/>
            <a:ext cx="347472" cy="347472"/>
          </a:xfrm>
          <a:prstGeom prst="ellipse">
            <a:avLst/>
          </a:prstGeom>
          <a:solidFill>
            <a:srgbClr val="032D42"/>
          </a:solidFill>
          <a:ln w="12700">
            <a:solidFill>
              <a:srgbClr val="032D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00507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42"/>
                </a:solidFill>
              </a:rPr>
              <a:t>Management sees it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4005072"/>
            <a:ext cx="5029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2D42"/>
                </a:solidFill>
              </a:rPr>
              <a:t>The dashboard shows equipment failure as the top cause and AC units leading the equipment chart. The guest survey shows if satisfaction improves.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2D84E"/>
                </a:solidFill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Before and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</a:rPr>
              <a:t>Before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Complaints handled one by one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Late cases noticed by chance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Same fault returns again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Managers see ticket counts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E3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5A"/>
                </a:solidFill>
              </a:rPr>
              <a:t>After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Routed to the right team at once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Escalated automatically on a 4-hour timer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One Problem and one corrective task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32D42"/>
                </a:solidFill>
              </a:rPr>
              <a:t>Dashboard shows the top root cause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4572000" cy="4572000"/>
          </a:xfrm>
          <a:prstGeom prst="ellipse">
            <a:avLst/>
          </a:prstGeom>
          <a:solidFill>
            <a:srgbClr val="0A4560">
              <a:alpha val="70000"/>
            </a:srgbClr>
          </a:solidFill>
          <a:ln w="12700">
            <a:solidFill>
              <a:srgbClr val="0A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0A4560">
              <a:alpha val="60000"/>
            </a:srgbClr>
          </a:solidFill>
          <a:ln w="12700">
            <a:solidFill>
              <a:srgbClr val="0A4560"/>
            </a:solidFill>
            <a:prstDash val="solid"/>
          </a:ln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011680" cy="3322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2D84E"/>
                </a:solidFill>
              </a:rPr>
              <a:t>One complaint. One root cause. Fixed once.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Thank you to Accenture and ServiceNow for HackNow 2026, to our mentors for their guidance, to the judges for their time, and to our families and friends for their support.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Team TechNova  |  HackNow 2026  |  Problem HOT-04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D0"/>
                </a:solidFill>
              </a:rPr>
              <a:t>B. Pravallika (Lead), K. Meghana, K. Rahini, M. Samatha, G. Hemanjali Bhavani, S. Dhanush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va">
  <a:themeElements>
    <a:clrScheme name="TechNova">
      <a:dk1>
        <a:srgbClr val="032D42"/>
      </a:dk1>
      <a:lt1>
        <a:srgbClr val="FFFFFF"/>
      </a:lt1>
      <a:dk2>
        <a:srgbClr val="0B7A5E"/>
      </a:dk2>
      <a:lt2>
        <a:srgbClr val="F2F8F6"/>
      </a:lt2>
      <a:accent1>
        <a:srgbClr val="62D84E"/>
      </a:accent1>
      <a:accent2>
        <a:srgbClr val="1F6FB2"/>
      </a:accent2>
      <a:accent3>
        <a:srgbClr val="D9534F"/>
      </a:accent3>
      <a:accent4>
        <a:srgbClr val="1E9E5A"/>
      </a:accent4>
      <a:accent5>
        <a:srgbClr val="0A4560"/>
      </a:accent5>
      <a:accent6>
        <a:srgbClr val="6B7C85"/>
      </a:accent6>
      <a:hlink>
        <a:srgbClr val="1F6FB2"/>
      </a:hlink>
      <a:folHlink>
        <a:srgbClr val="6B7C85"/>
      </a:folHlink>
    </a:clrScheme>
    <a:fontScheme name="TechNov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TechNova: Guest Complaint Root-Cause Intelligence</dc:title>
  <dc:subject>PptxGenJS Presentation</dc:subject>
  <dc:creator>Team TechNova</dc:creator>
  <cp:lastModifiedBy>Team TechNova</cp:lastModifiedBy>
  <cp:revision>1</cp:revision>
  <dcterms:created xsi:type="dcterms:W3CDTF">2026-10-14T11:27:19Z</dcterms:created>
  <dcterms:modified xsi:type="dcterms:W3CDTF">2026-10-14T11:27:19Z</dcterms:modified>
</cp:coreProperties>
</file>